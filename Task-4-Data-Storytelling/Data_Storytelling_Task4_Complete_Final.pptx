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b="1" sz="2800">
                <a:solidFill>
                  <a:srgbClr val="3B4CC0"/>
                </a:solidFill>
              </a:rPr>
              <a:t>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ApexPlanet Internship – Task 4</a:t>
            </a:r>
          </a:p>
          <a:p>
            <a:r>
              <a:rPr sz="1800">
                <a:solidFill>
                  <a:srgbClr val="282828"/>
                </a:solidFill>
              </a:rPr>
              <a:t>Piyush Bhola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B4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E67E22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• Analyze overall sales performance</a:t>
            </a:r>
          </a:p>
          <a:p>
            <a:r>
              <a:rPr sz="1800">
                <a:solidFill>
                  <a:srgbClr val="282828"/>
                </a:solidFill>
              </a:rPr>
              <a:t>• Identify important sales patterns</a:t>
            </a:r>
          </a:p>
          <a:p>
            <a:r>
              <a:rPr sz="1800">
                <a:solidFill>
                  <a:srgbClr val="282828"/>
                </a:solidFill>
              </a:rPr>
              <a:t>• Compare categories and cities</a:t>
            </a:r>
          </a:p>
          <a:p>
            <a:r>
              <a:rPr sz="1800">
                <a:solidFill>
                  <a:srgbClr val="282828"/>
                </a:solidFill>
              </a:rPr>
              <a:t>• Validate business insights statistically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27AE6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• 1,000 sales records analyzed</a:t>
            </a:r>
          </a:p>
          <a:p>
            <a:r>
              <a:rPr sz="1800">
                <a:solidFill>
                  <a:srgbClr val="282828"/>
                </a:solidFill>
              </a:rPr>
              <a:t>• Customer information included</a:t>
            </a:r>
          </a:p>
          <a:p>
            <a:r>
              <a:rPr sz="1800">
                <a:solidFill>
                  <a:srgbClr val="282828"/>
                </a:solidFill>
              </a:rPr>
              <a:t>• Product and category details</a:t>
            </a:r>
          </a:p>
          <a:p>
            <a:r>
              <a:rPr sz="1800">
                <a:solidFill>
                  <a:srgbClr val="282828"/>
                </a:solidFill>
              </a:rPr>
              <a:t>• City and gender information</a:t>
            </a:r>
          </a:p>
          <a:p>
            <a:r>
              <a:rPr sz="1800">
                <a:solidFill>
                  <a:srgbClr val="282828"/>
                </a:solidFill>
              </a:rPr>
              <a:t>• Quantity and total sales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8E44AD"/>
                </a:solidFill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• Missing values checked</a:t>
            </a:r>
          </a:p>
          <a:p>
            <a:r>
              <a:rPr sz="1800">
                <a:solidFill>
                  <a:srgbClr val="282828"/>
                </a:solidFill>
              </a:rPr>
              <a:t>• Duplicate records checked</a:t>
            </a:r>
          </a:p>
          <a:p>
            <a:r>
              <a:rPr sz="1800">
                <a:solidFill>
                  <a:srgbClr val="282828"/>
                </a:solidFill>
              </a:rPr>
              <a:t>• Data consistency verified</a:t>
            </a:r>
          </a:p>
          <a:p>
            <a:r>
              <a:rPr sz="1800">
                <a:solidFill>
                  <a:srgbClr val="282828"/>
                </a:solidFill>
              </a:rPr>
              <a:t>• Dataset prepared for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3B4CC0"/>
                </a:solidFill>
              </a:rP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Total Revenue: ₹139,399,439.7</a:t>
            </a:r>
          </a:p>
          <a:p>
            <a:r>
              <a:rPr sz="1800">
                <a:solidFill>
                  <a:srgbClr val="282828"/>
                </a:solidFill>
              </a:rPr>
              <a:t>Total Orders: 1,000</a:t>
            </a:r>
          </a:p>
          <a:p>
            <a:r>
              <a:rPr sz="1800">
                <a:solidFill>
                  <a:srgbClr val="282828"/>
                </a:solidFill>
              </a:rPr>
              <a:t>Total Customers: 947</a:t>
            </a:r>
          </a:p>
          <a:p>
            <a:r>
              <a:rPr sz="1800">
                <a:solidFill>
                  <a:srgbClr val="282828"/>
                </a:solidFill>
              </a:rPr>
              <a:t>Total Cities: 8</a:t>
            </a:r>
          </a:p>
          <a:p>
            <a:r>
              <a:rPr sz="1800">
                <a:solidFill>
                  <a:srgbClr val="282828"/>
                </a:solidFill>
              </a:rPr>
              <a:t>Total Quantity Sold: 5,435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B4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E67E22"/>
                </a:solidFill>
              </a:rPr>
              <a:t>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Dashboard analysis includes:</a:t>
            </a:r>
          </a:p>
          <a:p>
            <a:r>
              <a:rPr sz="1800">
                <a:solidFill>
                  <a:srgbClr val="282828"/>
                </a:solidFill>
              </a:rPr>
              <a:t>• Monthly Sales Trend</a:t>
            </a:r>
          </a:p>
          <a:p>
            <a:r>
              <a:rPr sz="1800">
                <a:solidFill>
                  <a:srgbClr val="282828"/>
                </a:solidFill>
              </a:rPr>
              <a:t>• Sales by Category</a:t>
            </a:r>
          </a:p>
          <a:p>
            <a:r>
              <a:rPr sz="1800">
                <a:solidFill>
                  <a:srgbClr val="282828"/>
                </a:solidFill>
              </a:rPr>
              <a:t>• Sales by City</a:t>
            </a:r>
          </a:p>
          <a:p>
            <a:r>
              <a:rPr sz="1800">
                <a:solidFill>
                  <a:srgbClr val="282828"/>
                </a:solidFill>
              </a:rPr>
              <a:t>• Identification of changing sales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27AE60"/>
                </a:solidFill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• Total revenue reflects overall business performance</a:t>
            </a:r>
          </a:p>
          <a:p>
            <a:r>
              <a:rPr sz="1800">
                <a:solidFill>
                  <a:srgbClr val="282828"/>
                </a:solidFill>
              </a:rPr>
              <a:t>• Sales performance varies across categories</a:t>
            </a:r>
          </a:p>
          <a:p>
            <a:r>
              <a:rPr sz="1800">
                <a:solidFill>
                  <a:srgbClr val="282828"/>
                </a:solidFill>
              </a:rPr>
              <a:t>• Sales performance varies across cities</a:t>
            </a:r>
          </a:p>
          <a:p>
            <a:r>
              <a:rPr sz="1800">
                <a:solidFill>
                  <a:srgbClr val="282828"/>
                </a:solidFill>
              </a:rPr>
              <a:t>• Monthly sales show fluctuations over time</a:t>
            </a:r>
          </a:p>
          <a:p>
            <a:r>
              <a:rPr sz="1800">
                <a:solidFill>
                  <a:srgbClr val="282828"/>
                </a:solidFill>
              </a:rPr>
              <a:t>• Customer and quantity metrics explain sales activity</a:t>
            </a:r>
          </a:p>
          <a:p>
            <a:r>
              <a:rPr sz="1800">
                <a:solidFill>
                  <a:srgbClr val="282828"/>
                </a:solidFill>
              </a:rPr>
              <a:t>Highest Category Sales Value: ₹50,778,581.7</a:t>
            </a:r>
          </a:p>
          <a:p>
            <a:r>
              <a:rPr sz="1800">
                <a:solidFill>
                  <a:srgbClr val="282828"/>
                </a:solidFill>
              </a:rPr>
              <a:t>Highest City Sales Value: ₹19,285,966.89</a:t>
            </a:r>
          </a:p>
          <a:p>
            <a:r>
              <a:rPr sz="1800">
                <a:solidFill>
                  <a:srgbClr val="282828"/>
                </a:solidFill>
              </a:rPr>
              <a:t>Highest Monthly Sales Value: ₹1,578,490.76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8E44AD"/>
                </a:solidFill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• Focus on high-performing product categories</a:t>
            </a:r>
          </a:p>
          <a:p>
            <a:r>
              <a:rPr sz="1800">
                <a:solidFill>
                  <a:srgbClr val="282828"/>
                </a:solidFill>
              </a:rPr>
              <a:t>• Investigate lower-performing cities and opportunities</a:t>
            </a:r>
          </a:p>
          <a:p>
            <a:r>
              <a:rPr sz="1800">
                <a:solidFill>
                  <a:srgbClr val="282828"/>
                </a:solidFill>
              </a:rPr>
              <a:t>• Plan promotions around weaker sales months</a:t>
            </a:r>
          </a:p>
          <a:p>
            <a:r>
              <a:rPr sz="1800">
                <a:solidFill>
                  <a:srgbClr val="282828"/>
                </a:solidFill>
              </a:rPr>
              <a:t>• Monitor customer and sales trends using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t>Hypothesis Testing -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Business Hypothesis:</a:t>
            </a:r>
          </a:p>
          <a:p>
            <a:r>
              <a:rPr sz="1600"/>
              <a:t>H0: There is no significant difference in average sales between male and female customers.</a:t>
            </a:r>
          </a:p>
          <a:p>
            <a:r>
              <a:rPr sz="1600"/>
              <a:t>H1: There is a significant difference in average sales between male and female customers.</a:t>
            </a:r>
          </a:p>
          <a:p/>
          <a:p>
            <a:r>
              <a:rPr sz="1600"/>
              <a:t>Test Used: Independent Samples T-Test</a:t>
            </a:r>
          </a:p>
          <a:p>
            <a:r>
              <a:rPr sz="1600"/>
              <a:t>Male average sales: ₹141,807.34</a:t>
            </a:r>
          </a:p>
          <a:p>
            <a:r>
              <a:rPr sz="1600"/>
              <a:t>Female average sales: ₹136,883.21</a:t>
            </a:r>
          </a:p>
          <a:p>
            <a:r>
              <a:rPr sz="1600"/>
              <a:t>p-value: 0.495</a:t>
            </a:r>
          </a:p>
          <a:p/>
          <a:p>
            <a:r>
              <a:rPr sz="1600"/>
              <a:t>Business Conclusion:</a:t>
            </a:r>
          </a:p>
          <a:p>
            <a:r>
              <a:rPr sz="1600"/>
              <a:t>Since p-value is greater than 0.05, the observed difference is not statistically significant.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B4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7772400" cy="457200"/>
          </a:xfrm>
        </p:spPr>
        <p:txBody>
          <a:bodyPr/>
          <a:lstStyle/>
          <a:p>
            <a:r>
              <a:rPr sz="2800" b="1">
                <a:solidFill>
                  <a:srgbClr val="E67E2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82828"/>
                </a:solidFill>
              </a:rPr>
              <a:t>The analysis provides a consolidated view of sales performance across customers, categories, cities and time periods.</a:t>
            </a:r>
          </a:p>
          <a:p>
            <a:r>
              <a:rPr sz="1800">
                <a:solidFill>
                  <a:srgbClr val="282828"/>
                </a:solidFill>
              </a:rPr>
              <a:t>Dashboard insights and statistical validation support data-driven business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ApexPlanet Internship | Task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